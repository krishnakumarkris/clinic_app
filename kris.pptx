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8" r:id="rId6"/>
    <p:sldId id="264" r:id="rId7"/>
    <p:sldId id="265" r:id="rId8"/>
    <p:sldId id="266" r:id="rId9"/>
    <p:sldId id="274" r:id="rId10"/>
    <p:sldId id="275" r:id="rId11"/>
    <p:sldId id="276" r:id="rId12"/>
    <p:sldId id="270" r:id="rId13"/>
    <p:sldId id="271" r:id="rId14"/>
    <p:sldId id="277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432006-CB2C-46EE-B6E0-1DE71D32FB68}" v="10" dt="2025-04-17T12:24:44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330926"/>
            <a:ext cx="9235713" cy="53020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000" dirty="0">
                <a:latin typeface="Rockwell" panose="02060603020205020403" pitchFamily="18" charset="0"/>
              </a:rPr>
              <a:t>DEVELOP A MOBILE APPILICATION TO MANAGE FEES COLLECTION AT A CLINIC (PS-02)</a:t>
            </a:r>
            <a:endParaRPr lang="en-US" sz="5400" dirty="0">
              <a:latin typeface="Rockwell" panose="02060603020205020403" pitchFamily="18" charset="0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876424" y="1456841"/>
            <a:ext cx="8791575" cy="3800959"/>
          </a:xfrm>
        </p:spPr>
        <p:txBody>
          <a:bodyPr>
            <a:normAutofit fontScale="92500"/>
          </a:bodyPr>
          <a:lstStyle/>
          <a:p>
            <a:r>
              <a:rPr lang="en-US" dirty="0"/>
              <a:t>Description:</a:t>
            </a:r>
          </a:p>
          <a:p>
            <a:endParaRPr lang="en-US" dirty="0"/>
          </a:p>
          <a:p>
            <a:r>
              <a:rPr lang="en-US" dirty="0"/>
              <a:t>The clinic currently employs spreadsheets to mark fees to be paid and track fee </a:t>
            </a:r>
            <a:r>
              <a:rPr lang="en-US" dirty="0" err="1"/>
              <a:t>payments.Fees</a:t>
            </a:r>
            <a:r>
              <a:rPr lang="en-US" dirty="0"/>
              <a:t> are collected through UPI QR scanners and bank transfers. This creates multiple sources of information and difficulty in reconciliation process. Bill generation is delayed. The clinic is in need of a database driven mobile application that can efficiently collect payments and Issue receipts in addition to facilitating data analytics. Your team's mission is to design and develop a mobile application that provides these capabilities to the clinic.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E0647-3461-F79F-B5D8-061F59C11B45}"/>
              </a:ext>
            </a:extLst>
          </p:cNvPr>
          <p:cNvSpPr txBox="1"/>
          <p:nvPr/>
        </p:nvSpPr>
        <p:spPr>
          <a:xfrm>
            <a:off x="7737986" y="4976344"/>
            <a:ext cx="39230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92D050"/>
                </a:solidFill>
              </a:rPr>
              <a:t>TEAM MEMBERS NAME </a:t>
            </a:r>
          </a:p>
          <a:p>
            <a:r>
              <a:rPr lang="en-IN" dirty="0"/>
              <a:t>(team id TEAMAPTN166)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MEENASHALINI P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KRISHNAKUMAR D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INDHUMATHI S</a:t>
            </a: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ER diagram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899" y="1689315"/>
            <a:ext cx="10492352" cy="482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System architecture diagram</a:t>
            </a: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88" y="1898542"/>
            <a:ext cx="11166529" cy="464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3195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92295"/>
          </a:xfrm>
        </p:spPr>
        <p:txBody>
          <a:bodyPr>
            <a:normAutofit/>
          </a:bodyPr>
          <a:lstStyle/>
          <a:p>
            <a:r>
              <a:rPr lang="en-IN" sz="3200" b="1" dirty="0"/>
              <a:t>1. User Management Module</a:t>
            </a:r>
            <a:endParaRPr lang="en-US" sz="3200" b="1" dirty="0">
              <a:latin typeface="Rockwell" panose="02060603020205020403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0102AF-1031-69FC-0612-F714745E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905358"/>
            <a:ext cx="9905999" cy="4249636"/>
          </a:xfrm>
        </p:spPr>
        <p:txBody>
          <a:bodyPr/>
          <a:lstStyle/>
          <a:p>
            <a:r>
              <a:rPr lang="en-IN" dirty="0"/>
              <a:t>Patient registration/login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Admin login with role-based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Forgot password / password reset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Profile management (update name, contact, etc.)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432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D0E78-1FD0-C0AA-E347-4AC55CDFC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5713" y="1325254"/>
            <a:ext cx="4649783" cy="823912"/>
          </a:xfrm>
        </p:spPr>
        <p:txBody>
          <a:bodyPr/>
          <a:lstStyle/>
          <a:p>
            <a:r>
              <a:rPr lang="en-IN" sz="2000" dirty="0"/>
              <a:t>2. </a:t>
            </a:r>
            <a:r>
              <a:rPr lang="en-IN" sz="2400" b="1" dirty="0"/>
              <a:t>Appointment Management Module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Schedule new appointment (choose department/date/time)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View upcoming &amp; past appointments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Cancel/reschedule appointments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Appointment status updates (confirmed/pending/completed)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71CDC-F2EA-A4A8-0F43-F3B02E173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8" y="1325254"/>
            <a:ext cx="4646602" cy="823912"/>
          </a:xfrm>
        </p:spPr>
        <p:txBody>
          <a:bodyPr/>
          <a:lstStyle/>
          <a:p>
            <a:r>
              <a:rPr lang="en-IN" sz="2400" dirty="0"/>
              <a:t>💰 </a:t>
            </a:r>
            <a:r>
              <a:rPr lang="en-IN" sz="2400" b="1" dirty="0"/>
              <a:t>3. Payment Management Module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40B952-39CF-C96B-2D71-ED3E9104830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 calculation based on selected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payable amount (e.g., consultation + scan fees)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UPI/Bank Transfer (integration with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Razorpay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QR scanning)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 payment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transaction details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9400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B96572-73F5-AD85-2949-5CFD52581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1590725"/>
            <a:ext cx="4649783" cy="823912"/>
          </a:xfrm>
        </p:spPr>
        <p:txBody>
          <a:bodyPr>
            <a:noAutofit/>
          </a:bodyPr>
          <a:lstStyle/>
          <a:p>
            <a:r>
              <a:rPr lang="en-IN" sz="2600" dirty="0"/>
              <a:t>🧾 </a:t>
            </a:r>
            <a:r>
              <a:rPr lang="en-IN" sz="2600" b="1" dirty="0"/>
              <a:t>4. Receipt &amp; Billing Module</a:t>
            </a:r>
            <a:endParaRPr lang="en-IN" sz="26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C515995-8C60-BB72-6DD8-472FA9BC7FC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 calculation based on selected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payable amount (e.g., consultation + scan fees)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UPI/Bank Transfer (integration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Razorpay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QR scanning)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 payment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transaction details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828A4C-CEB3-420F-357A-FB377AC36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8" y="1590725"/>
            <a:ext cx="4646602" cy="823912"/>
          </a:xfrm>
        </p:spPr>
        <p:txBody>
          <a:bodyPr/>
          <a:lstStyle/>
          <a:p>
            <a:r>
              <a:rPr lang="en-US" sz="2400" b="1" dirty="0"/>
              <a:t>📊 5. Analytics &amp; Reporting Module (Admin Only)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707A92-2F46-CC54-958F-727C60831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80853"/>
            <a:ext cx="4875210" cy="29103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collections per day/week/month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Department-wise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Pending payments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Export analytics to Excel/CSV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9400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E5906A-1F64-0E7F-794A-2640BF9AF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922131"/>
            <a:ext cx="4649783" cy="823912"/>
          </a:xfrm>
        </p:spPr>
        <p:txBody>
          <a:bodyPr/>
          <a:lstStyle/>
          <a:p>
            <a:r>
              <a:rPr lang="en-IN" dirty="0"/>
              <a:t>📬 </a:t>
            </a:r>
            <a:r>
              <a:rPr lang="en-IN" b="1" dirty="0"/>
              <a:t>6. Notification &amp; Alerts Module</a:t>
            </a:r>
            <a:endParaRPr lang="en-IN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7FE1521-8826-4795-583C-7D410BA0DF4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41410" y="2680106"/>
            <a:ext cx="4878391" cy="2717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 notifications (appointment reminders, payment due alerts)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SMS/email notifications via Twilio or Firebase Cloud Messaging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update on payment confirmation or appointment approval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1E4984-D185-7858-F06E-F2995C0F6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8" y="1066802"/>
            <a:ext cx="4646602" cy="823912"/>
          </a:xfrm>
        </p:spPr>
        <p:txBody>
          <a:bodyPr/>
          <a:lstStyle/>
          <a:p>
            <a:r>
              <a:rPr lang="en-IN" dirty="0"/>
              <a:t>📑 </a:t>
            </a:r>
            <a:r>
              <a:rPr lang="en-IN" b="1" dirty="0"/>
              <a:t>7. Department &amp; Service Management</a:t>
            </a: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B9628B4-C556-0A98-9B76-248772301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6504" y="2581784"/>
            <a:ext cx="4875210" cy="2717801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View list of departments (e.g., Emergency, Outpatient, Lab)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Select services (consultation, scan, rehab,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Admin can update pricing or add/remove services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9400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52756-F7B6-5DE4-7AAA-61200FB8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0018" y="1561228"/>
            <a:ext cx="4649783" cy="823912"/>
          </a:xfrm>
        </p:spPr>
        <p:txBody>
          <a:bodyPr>
            <a:normAutofit/>
          </a:bodyPr>
          <a:lstStyle/>
          <a:p>
            <a:r>
              <a:rPr lang="en-IN" dirty="0"/>
              <a:t>💬 </a:t>
            </a:r>
            <a:r>
              <a:rPr lang="en-IN" b="1" dirty="0"/>
              <a:t>8. Messaging / Communication Module 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AEE71-CC32-97DB-3375-66D10F3589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61228"/>
            <a:ext cx="4875210" cy="823912"/>
          </a:xfrm>
        </p:spPr>
        <p:txBody>
          <a:bodyPr>
            <a:normAutofit/>
          </a:bodyPr>
          <a:lstStyle/>
          <a:p>
            <a:r>
              <a:rPr lang="en-IN" dirty="0"/>
              <a:t>9</a:t>
            </a:r>
            <a:r>
              <a:rPr lang="en-IN" b="1" dirty="0"/>
              <a:t>.Mobile Dashboard Module (Patient)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F843CB6-42A2-5CD2-AE09-1911EFAF2A4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41410" y="3416636"/>
            <a:ext cx="476777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send custom alerts to specific patients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interface for queries (optional for future upgrades)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2FCC7AD-2266-4B91-4A99-5709BD955A81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172200" y="3416636"/>
            <a:ext cx="456462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upcoming appointments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payment history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View/download receipts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 settings</a:t>
            </a:r>
          </a:p>
        </p:txBody>
      </p:sp>
    </p:spTree>
    <p:extLst>
      <p:ext uri="{BB962C8B-B14F-4D97-AF65-F5344CB8AC3E}">
        <p14:creationId xmlns:p14="http://schemas.microsoft.com/office/powerpoint/2010/main" val="1259400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BCFA904-4FC8-3B44-10BF-0FDEC9028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42" y="272845"/>
            <a:ext cx="3575249" cy="63123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1276BA-62E6-D68C-F101-3EEF87260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961" y="272845"/>
            <a:ext cx="3864077" cy="64081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1EFB64-070E-480F-EF26-9D6D58E8E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678" y="320777"/>
            <a:ext cx="3377380" cy="631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49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8D7583-5BEE-2C12-3855-239838108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46" y="-78658"/>
            <a:ext cx="3553841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3A86C4-5ED1-893D-3ED2-9F0E5D10F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0"/>
            <a:ext cx="343145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5D0F45-CD77-4933-13D7-862AAD66B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1615" y="-78658"/>
            <a:ext cx="3828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16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3ED3E6-1A6C-E6FA-2858-A26236239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142" y="78658"/>
            <a:ext cx="339643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6B75AC-A787-F159-70F2-4E50E5299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" y="78658"/>
            <a:ext cx="3239121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405F3A-236E-4AF9-89A9-F190A1C38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79" y="39329"/>
            <a:ext cx="330364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A8A925-41F2-B7C2-CFDF-905B6CC00B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819" y="39329"/>
            <a:ext cx="2992853" cy="677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364708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References, packages and services used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3FD32A-C907-2148-3E72-B363FEFCE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406" y="1288026"/>
            <a:ext cx="10658168" cy="473914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b="1" dirty="0"/>
              <a:t>Packages</a:t>
            </a:r>
          </a:p>
          <a:p>
            <a:r>
              <a:rPr lang="en-IN" b="1" dirty="0"/>
              <a:t>Flutter:</a:t>
            </a:r>
            <a:br>
              <a:rPr lang="en-IN" dirty="0"/>
            </a:br>
            <a:r>
              <a:rPr lang="en-IN" dirty="0" err="1"/>
              <a:t>firebase_auth</a:t>
            </a:r>
            <a:r>
              <a:rPr lang="en-IN" dirty="0"/>
              <a:t>, </a:t>
            </a:r>
            <a:r>
              <a:rPr lang="en-IN" dirty="0" err="1"/>
              <a:t>cloud_firestore</a:t>
            </a:r>
            <a:r>
              <a:rPr lang="en-IN" dirty="0"/>
              <a:t>, provider, </a:t>
            </a:r>
            <a:r>
              <a:rPr lang="en-IN" dirty="0" err="1"/>
              <a:t>razorpay_flutter</a:t>
            </a:r>
            <a:r>
              <a:rPr lang="en-IN" dirty="0"/>
              <a:t>, http, </a:t>
            </a:r>
            <a:r>
              <a:rPr lang="en-IN" dirty="0" err="1"/>
              <a:t>intl</a:t>
            </a:r>
            <a:r>
              <a:rPr lang="en-IN" dirty="0"/>
              <a:t>, printing, </a:t>
            </a:r>
            <a:r>
              <a:rPr lang="en-IN" dirty="0" err="1"/>
              <a:t>charts_flutter</a:t>
            </a:r>
            <a:endParaRPr lang="en-IN" dirty="0"/>
          </a:p>
          <a:p>
            <a:pPr>
              <a:buNone/>
            </a:pPr>
            <a:r>
              <a:rPr lang="en-IN" b="1" dirty="0"/>
              <a:t>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Flutter Docs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Firebase Docs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Razorpay</a:t>
            </a:r>
            <a:r>
              <a:rPr lang="en-IN" dirty="0"/>
              <a:t> API Docs</a:t>
            </a:r>
          </a:p>
          <a:p>
            <a:pPr>
              <a:buNone/>
            </a:pPr>
            <a:r>
              <a:rPr lang="en-US" b="1" dirty="0"/>
              <a:t>Tools &amp;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Firebase (Auth, Hosting, FCM)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Razorpay</a:t>
            </a:r>
            <a:r>
              <a:rPr lang="en-US" dirty="0"/>
              <a:t> / Paytm (Payments)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MongoDB / MySQL (Database)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571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>
                <a:latin typeface="Rockwell" panose="02060603020205020403" pitchFamily="18" charset="0"/>
              </a:rPr>
              <a:t>Github</a:t>
            </a:r>
            <a:r>
              <a:rPr lang="en-US" sz="4400" dirty="0">
                <a:latin typeface="Rockwell" panose="02060603020205020403" pitchFamily="18" charset="0"/>
              </a:rPr>
              <a:t> link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5174" y="2811557"/>
            <a:ext cx="9788882" cy="916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https://github.com/krishnakumarkris/clinic_app.git</a:t>
            </a:r>
          </a:p>
        </p:txBody>
      </p:sp>
    </p:spTree>
    <p:extLst>
      <p:ext uri="{BB962C8B-B14F-4D97-AF65-F5344CB8AC3E}">
        <p14:creationId xmlns:p14="http://schemas.microsoft.com/office/powerpoint/2010/main" val="1804055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866CFD-F94E-4AE5-ACEA-86FEC0F48A10}">
  <ds:schemaRefs>
    <ds:schemaRef ds:uri="16c05727-aa75-4e4a-9b5f-8a80a1165891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0</TotalTime>
  <Words>506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Rockwell</vt:lpstr>
      <vt:lpstr>Tw Cen MT</vt:lpstr>
      <vt:lpstr>Circuit</vt:lpstr>
      <vt:lpstr>DEVELOP A MOBILE APPILICATION TO MANAGE FEES COLLECTION AT A CLINIC (PS-02)</vt:lpstr>
      <vt:lpstr>ER diagram</vt:lpstr>
      <vt:lpstr>System architecture diagram</vt:lpstr>
      <vt:lpstr>1. User Management Module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References, packages and services used</vt:lpstr>
      <vt:lpstr>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2025-04-16T17:42:55Z</dcterms:created>
  <dcterms:modified xsi:type="dcterms:W3CDTF">2025-04-17T12:26:58Z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